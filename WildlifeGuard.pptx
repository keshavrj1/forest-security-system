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Alexandria Bold"/>
      <p:bold r:id="rId17"/>
    </p:embeddedFont>
    <p:embeddedFont>
      <p:font typeface="Open Sans"/>
      <p:regular r:id="rId18"/>
    </p:embeddedFont>
    <p:embeddedFont>
      <p:font typeface="Alexandria"/>
      <p:regular r:id="rId19"/>
    </p:embeddedFont>
    <p:embeddedFont>
      <p:font typeface="DM Sans"/>
      <p:regular r:id="rId20"/>
    </p:embeddedFont>
    <p:embeddedFont>
      <p:font typeface="Open Sans Bold"/>
      <p:bold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3439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68325" y="1607409"/>
            <a:ext cx="12951349" cy="1203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10"/>
              </a:lnSpc>
            </a:pPr>
            <a:r>
              <a:rPr lang="en-US" sz="70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WILDLIFEGUARD</a:t>
            </a:r>
            <a:endParaRPr lang="en-US" sz="7005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821514" y="5910848"/>
            <a:ext cx="6104335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5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6991338" y="8215208"/>
            <a:ext cx="4305324" cy="522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  <a:spcBef>
                <a:spcPct val="0"/>
              </a:spcBef>
            </a:pPr>
            <a:r>
              <a:rPr lang="en-US" sz="3070">
                <a:solidFill>
                  <a:srgbClr val="E9E9E9"/>
                </a:solidFill>
                <a:latin typeface="Open Sans"/>
                <a:ea typeface="Open Sans"/>
                <a:cs typeface="Open Sans"/>
                <a:sym typeface="Open Sans"/>
              </a:rPr>
              <a:t>reallygreatsite.com</a:t>
            </a:r>
            <a:endParaRPr lang="en-US" sz="3070">
              <a:solidFill>
                <a:srgbClr val="E9E9E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08671" y="2923863"/>
            <a:ext cx="14738408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AI-BASED REAL-TIME WILDLIFE INTRUSION DETECTION SYSTEM</a:t>
            </a:r>
            <a:endParaRPr lang="en-US" sz="4800">
              <a:solidFill>
                <a:srgbClr val="3F3D3E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312960" y="5615137"/>
            <a:ext cx="7573092" cy="150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PRESENTED BY</a:t>
            </a:r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: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sz="28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Keshav Joshi</a:t>
            </a:r>
            <a:endParaRPr lang="en-US" sz="280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920"/>
              </a:lnSpc>
            </a:pPr>
            <a:endParaRPr lang="en-US" sz="2800">
              <a:solidFill>
                <a:schemeClr val="tx1">
                  <a:lumMod val="50000"/>
                  <a:lumOff val="50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                        </a:t>
            </a:r>
            <a:endParaRPr lang="en-US" sz="280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22526" y="1089326"/>
            <a:ext cx="8442948" cy="96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557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  <a:endParaRPr lang="en-US" sz="5575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531755" y="2618905"/>
            <a:ext cx="14057293" cy="6796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0"/>
              </a:lnSpc>
            </a:pPr>
            <a:r>
              <a:rPr lang="en-US" sz="353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The forest areas are large, and inaccessible geographically, which makes it very hard to have a constant manual supervision. </a:t>
            </a:r>
            <a:endParaRPr lang="en-US" sz="353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940"/>
              </a:lnSpc>
            </a:pPr>
            <a:r>
              <a:rPr lang="en-US" sz="353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The human-wildlife conflict in these regions is associated with significant safety issues, crop damage, and financial losses incurred by neighboring communities. </a:t>
            </a:r>
            <a:endParaRPr lang="en-US" sz="353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940"/>
              </a:lnSpc>
            </a:pPr>
          </a:p>
          <a:p>
            <a:pPr algn="l">
              <a:lnSpc>
                <a:spcPts val="4940"/>
              </a:lnSpc>
            </a:pPr>
            <a:r>
              <a:rPr lang="en-US" sz="353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Traditional CCTV systems depend greatly on continuous human monitoring, which is not efficient and is bound to cause delays. </a:t>
            </a:r>
            <a:endParaRPr lang="en-US" sz="353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940"/>
              </a:lnSpc>
              <a:spcBef>
                <a:spcPct val="0"/>
              </a:spcBef>
            </a:pPr>
            <a:r>
              <a:rPr lang="en-US" sz="353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 addition, current surveillance systems do not include an automated real-time warning system that could result in delayed response and increased risk in case of such an event. </a:t>
            </a:r>
            <a:endParaRPr lang="en-US" sz="353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1833286" y="6642992"/>
            <a:ext cx="4825777" cy="6737878"/>
          </a:xfrm>
          <a:custGeom>
            <a:avLst/>
            <a:gdLst/>
            <a:ahLst/>
            <a:cxnLst/>
            <a:rect l="l" t="t" r="r" b="b"/>
            <a:pathLst>
              <a:path w="4825777" h="6737878">
                <a:moveTo>
                  <a:pt x="0" y="0"/>
                </a:moveTo>
                <a:lnTo>
                  <a:pt x="4825778" y="0"/>
                </a:lnTo>
                <a:lnTo>
                  <a:pt x="4825778" y="6737878"/>
                </a:lnTo>
                <a:lnTo>
                  <a:pt x="0" y="6737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21514" y="2226607"/>
            <a:ext cx="15855879" cy="5056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5"/>
              </a:lnSpc>
            </a:pPr>
            <a:r>
              <a:rPr lang="en-US" sz="310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WildlifeGuard is an AI-powered real-time wildlife intrusion detection system that transforms traditional surveillance into intelligent monitoring.</a:t>
            </a:r>
            <a:endParaRPr lang="en-US" sz="3100">
              <a:solidFill>
                <a:srgbClr val="545454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4775"/>
              </a:lnSpc>
            </a:pPr>
            <a:r>
              <a:rPr lang="en-US" sz="3100" b="1">
                <a:solidFill>
                  <a:srgbClr val="545454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How It Works</a:t>
            </a:r>
            <a:endParaRPr lang="en-US" sz="3100" b="1">
              <a:solidFill>
                <a:srgbClr val="545454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 </a:t>
            </a:r>
            <a:r>
              <a:rPr lang="en-US" sz="310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• Captures live video stream from surveillance camera</a:t>
            </a:r>
            <a:endParaRPr lang="en-US" sz="3100">
              <a:solidFill>
                <a:srgbClr val="545454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 • Uses deep learning to detect wild animals</a:t>
            </a:r>
            <a:endParaRPr lang="en-US" sz="3100">
              <a:solidFill>
                <a:srgbClr val="545454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 • Sends instant alert via Telegram Bot</a:t>
            </a:r>
            <a:endParaRPr lang="en-US" sz="3100">
              <a:solidFill>
                <a:srgbClr val="545454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 • Enables immediate response</a:t>
            </a:r>
            <a:endParaRPr lang="en-US" sz="3100">
              <a:solidFill>
                <a:srgbClr val="545454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4340"/>
              </a:lnSpc>
            </a:pPr>
          </a:p>
          <a:p>
            <a:pPr algn="l">
              <a:lnSpc>
                <a:spcPts val="4340"/>
              </a:lnSpc>
              <a:spcBef>
                <a:spcPct val="0"/>
              </a:spcBef>
            </a:pPr>
          </a:p>
        </p:txBody>
      </p:sp>
      <p:sp>
        <p:nvSpPr>
          <p:cNvPr id="5" name="TextBox 5"/>
          <p:cNvSpPr txBox="1"/>
          <p:nvPr/>
        </p:nvSpPr>
        <p:spPr>
          <a:xfrm>
            <a:off x="4761326" y="1129038"/>
            <a:ext cx="8765347" cy="90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5"/>
              </a:lnSpc>
            </a:pPr>
            <a:r>
              <a:rPr lang="en-US" sz="53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PROPOSED SOLUTION</a:t>
            </a:r>
            <a:endParaRPr lang="en-US" sz="5305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21514" y="6542135"/>
            <a:ext cx="15638824" cy="346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</a:pPr>
            <a:r>
              <a:rPr lang="en-US" sz="3270" b="1">
                <a:solidFill>
                  <a:srgbClr val="545454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Uniqueness &amp; Innovation</a:t>
            </a:r>
            <a:endParaRPr lang="en-US" sz="3270" b="1">
              <a:solidFill>
                <a:srgbClr val="545454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 </a:t>
            </a:r>
            <a:r>
              <a:rPr lang="en-US" sz="327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• Real-time AI-based detection</a:t>
            </a:r>
            <a:endParaRPr lang="en-US" sz="3270">
              <a:solidFill>
                <a:srgbClr val="545454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 • Automated alert system integration</a:t>
            </a:r>
            <a:endParaRPr lang="en-US" sz="3270">
              <a:solidFill>
                <a:srgbClr val="545454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 • Eliminates need for continuous manual observation</a:t>
            </a:r>
            <a:endParaRPr lang="en-US" sz="3270">
              <a:solidFill>
                <a:srgbClr val="545454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 • Designed for scalable forest deployment</a:t>
            </a:r>
            <a:endParaRPr lang="en-US" sz="3270">
              <a:solidFill>
                <a:srgbClr val="545454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4575"/>
              </a:lnSpc>
              <a:spcBef>
                <a:spcPct val="0"/>
              </a:spcBef>
            </a:pPr>
            <a:r>
              <a:rPr lang="en-US" sz="3270">
                <a:solidFill>
                  <a:srgbClr val="545454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 </a:t>
            </a:r>
            <a:endParaRPr lang="en-US" sz="3270">
              <a:solidFill>
                <a:srgbClr val="545454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04970" y="1154367"/>
            <a:ext cx="14215963" cy="877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5"/>
              </a:lnSpc>
            </a:pPr>
            <a:r>
              <a:rPr lang="en-US" sz="52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TECHNICAL APPROACH </a:t>
            </a:r>
            <a:endParaRPr lang="en-US" sz="5205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21514" y="2321042"/>
            <a:ext cx="16466486" cy="491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0"/>
              </a:lnSpc>
            </a:pPr>
            <a:r>
              <a:rPr lang="en-US" sz="3095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 Stack</a:t>
            </a:r>
            <a:endParaRPr lang="en-US" sz="3095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624840" lvl="1" indent="-312420" algn="l">
              <a:lnSpc>
                <a:spcPts val="4455"/>
              </a:lnSpc>
              <a:buFont typeface="Arial" panose="020B0604020202020204"/>
              <a:buChar char="•"/>
            </a:pPr>
            <a:r>
              <a:rPr lang="en-US" sz="28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Pr</a:t>
            </a:r>
            <a:r>
              <a:rPr lang="en-US" sz="28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ogramming Language: Python</a:t>
            </a:r>
            <a:endParaRPr lang="en-US" sz="28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24840" lvl="1" indent="-312420" algn="l">
              <a:lnSpc>
                <a:spcPts val="4455"/>
              </a:lnSpc>
              <a:buFont typeface="Arial" panose="020B0604020202020204"/>
              <a:buChar char="•"/>
            </a:pPr>
            <a:r>
              <a:rPr lang="en-US" sz="28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Computer Vision: OpenCV</a:t>
            </a:r>
            <a:endParaRPr lang="en-US" sz="28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24840" lvl="1" indent="-312420" algn="l">
              <a:lnSpc>
                <a:spcPts val="4455"/>
              </a:lnSpc>
              <a:buFont typeface="Arial" panose="020B0604020202020204"/>
              <a:buChar char="•"/>
            </a:pPr>
            <a:r>
              <a:rPr lang="en-US" sz="28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AI Model: YOLOv8 (Real-Time Object Detection)</a:t>
            </a:r>
            <a:endParaRPr lang="en-US" sz="28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24840" lvl="1" indent="-312420" algn="l">
              <a:lnSpc>
                <a:spcPts val="4455"/>
              </a:lnSpc>
              <a:buFont typeface="Arial" panose="020B0604020202020204"/>
              <a:buChar char="•"/>
            </a:pPr>
            <a:r>
              <a:rPr lang="en-US" sz="28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Notification System: Telegram Bot API</a:t>
            </a:r>
            <a:endParaRPr lang="en-US" sz="28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24840" lvl="1" indent="-312420" algn="l">
              <a:lnSpc>
                <a:spcPts val="4455"/>
              </a:lnSpc>
              <a:buFont typeface="Arial" panose="020B0604020202020204"/>
              <a:buChar char="•"/>
            </a:pPr>
            <a:r>
              <a:rPr lang="en-US" sz="28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Video Input Source: Live Video Feed (Webcam Compatible, Scalable to Surveillance Cameras)</a:t>
            </a:r>
            <a:endParaRPr lang="en-US" sz="28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050"/>
              </a:lnSpc>
            </a:pPr>
          </a:p>
          <a:p>
            <a:pPr algn="l">
              <a:lnSpc>
                <a:spcPts val="4050"/>
              </a:lnSpc>
              <a:spcBef>
                <a:spcPct val="0"/>
              </a:spcBef>
            </a:p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21514" y="6391225"/>
            <a:ext cx="16466486" cy="374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0"/>
              </a:lnSpc>
            </a:pPr>
            <a:r>
              <a:rPr lang="en-US" sz="3095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</a:t>
            </a:r>
            <a:r>
              <a:rPr lang="en-US" sz="3095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ogy</a:t>
            </a:r>
            <a:endParaRPr lang="en-US" sz="3095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668020" lvl="1" indent="-334010" algn="l">
              <a:lnSpc>
                <a:spcPts val="4330"/>
              </a:lnSpc>
              <a:buFont typeface="Arial" panose="020B0604020202020204"/>
              <a:buChar char="•"/>
            </a:pPr>
            <a:r>
              <a:rPr lang="en-US" sz="30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Capture real-time video from the connected camera (webcam).</a:t>
            </a:r>
            <a:endParaRPr lang="en-US" sz="30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68020" lvl="1" indent="-334010" algn="l">
              <a:lnSpc>
                <a:spcPts val="4330"/>
              </a:lnSpc>
              <a:buFont typeface="Arial" panose="020B0604020202020204"/>
              <a:buChar char="•"/>
            </a:pPr>
            <a:r>
              <a:rPr lang="en-US" sz="30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Process each frame with the YOLO model.</a:t>
            </a:r>
            <a:endParaRPr lang="en-US" sz="30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68020" lvl="1" indent="-334010" algn="l">
              <a:lnSpc>
                <a:spcPts val="4330"/>
              </a:lnSpc>
              <a:buFont typeface="Arial" panose="020B0604020202020204"/>
              <a:buChar char="•"/>
            </a:pPr>
            <a:r>
              <a:rPr lang="en-US" sz="30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Id</a:t>
            </a:r>
            <a:r>
              <a:rPr lang="en-US" sz="30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entify the animal category along with its confidence level.</a:t>
            </a:r>
            <a:endParaRPr lang="en-US" sz="30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68020" lvl="1" indent="-334010" algn="l">
              <a:lnSpc>
                <a:spcPts val="4330"/>
              </a:lnSpc>
              <a:buFont typeface="Arial" panose="020B0604020202020204"/>
              <a:buChar char="•"/>
            </a:pPr>
            <a:r>
              <a:rPr lang="en-US" sz="30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Trigger an alert if the detection is valid</a:t>
            </a:r>
            <a:endParaRPr lang="en-US" sz="30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68020" lvl="1" indent="-334010" algn="l">
              <a:lnSpc>
                <a:spcPts val="4330"/>
              </a:lnSpc>
              <a:buFont typeface="Arial" panose="020B0604020202020204"/>
              <a:buChar char="•"/>
            </a:pPr>
            <a:r>
              <a:rPr lang="en-US" sz="30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Send real-time notification</a:t>
            </a:r>
            <a:endParaRPr lang="en-US" sz="30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0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91798" y="933450"/>
            <a:ext cx="11354764" cy="902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55"/>
              </a:lnSpc>
            </a:pPr>
            <a:r>
              <a:rPr lang="en-US" sz="532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ARCHITECTURE</a:t>
            </a:r>
            <a:endParaRPr lang="en-US" sz="5325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04571" y="1129659"/>
            <a:ext cx="13684113" cy="907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5"/>
              </a:lnSpc>
            </a:pPr>
            <a:r>
              <a:rPr lang="en-US" sz="529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FEATURES &amp; FUNCTIONALITY</a:t>
            </a:r>
            <a:endParaRPr lang="en-US" sz="5295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14884" y="2447545"/>
            <a:ext cx="14544416" cy="405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5"/>
              </a:lnSpc>
            </a:pPr>
            <a:r>
              <a:rPr lang="en-US" sz="337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Core Features:</a:t>
            </a:r>
            <a:endParaRPr lang="en-US" sz="3370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575"/>
              </a:lnSpc>
            </a:pPr>
            <a:r>
              <a:rPr lang="en-US" sz="327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• Real-time wildlife detection</a:t>
            </a:r>
            <a:endParaRPr lang="en-US" sz="327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AI-based classification</a:t>
            </a:r>
            <a:endParaRPr lang="en-US" sz="327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Confidence-based alert triggering</a:t>
            </a:r>
            <a:endParaRPr lang="en-US" sz="327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Instant Telegram notification</a:t>
            </a:r>
            <a:endParaRPr lang="en-US" sz="327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Continuous monitoring interface</a:t>
            </a:r>
            <a:endParaRPr lang="en-US" sz="327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575"/>
              </a:lnSpc>
            </a:p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14884" y="6264754"/>
            <a:ext cx="14544416" cy="402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5"/>
              </a:lnSpc>
            </a:pPr>
            <a:r>
              <a:rPr lang="en-US" sz="337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Functional Modules:</a:t>
            </a:r>
            <a:endParaRPr lang="en-US" sz="3370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• Video Processing Module</a:t>
            </a:r>
            <a:endParaRPr lang="en-US" sz="327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AI Detection Module</a:t>
            </a:r>
            <a:endParaRPr lang="en-US" sz="327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Alert Notification Module</a:t>
            </a:r>
            <a:endParaRPr lang="en-US" sz="327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575"/>
              </a:lnSpc>
            </a:pP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Monitoring Display Module</a:t>
            </a:r>
            <a:endParaRPr lang="en-US" sz="327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435"/>
              </a:lnSpc>
            </a:pPr>
          </a:p>
          <a:p>
            <a:pPr algn="l">
              <a:lnSpc>
                <a:spcPts val="443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873603" y="-188063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79684" y="1105428"/>
            <a:ext cx="13528633" cy="946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5"/>
              </a:lnSpc>
            </a:pPr>
            <a:r>
              <a:rPr lang="en-US" sz="547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FUTURE SCOPE</a:t>
            </a:r>
            <a:endParaRPr lang="en-US" sz="5475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46359" y="2900125"/>
            <a:ext cx="17924929" cy="647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90"/>
              </a:lnSpc>
            </a:pPr>
            <a:r>
              <a:rPr lang="en-US" sz="32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• Integration with IP-based CCTV systems using RTSP protocol</a:t>
            </a:r>
            <a:endParaRPr lang="en-US" sz="320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890"/>
              </a:lnSpc>
            </a:pPr>
            <a:r>
              <a:rPr lang="en-US" sz="32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• Deployment on edge devices like Raspberry Pi or NVIDIA Jetson for field-level monitoring</a:t>
            </a:r>
            <a:endParaRPr lang="en-US" sz="320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890"/>
              </a:lnSpc>
            </a:pPr>
            <a:r>
              <a:rPr lang="en-US" sz="32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• Development of a separate mobile application for sending alerts and monitoring in real-time. </a:t>
            </a:r>
            <a:endParaRPr lang="en-US" sz="320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890"/>
              </a:lnSpc>
            </a:pPr>
            <a:r>
              <a:rPr lang="en-US" sz="32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• Cloud-based centralized dashboard for managing multiple cameras. </a:t>
            </a:r>
            <a:endParaRPr lang="en-US" sz="320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890"/>
              </a:lnSpc>
            </a:pPr>
            <a:r>
              <a:rPr lang="en-US" sz="32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•Thermal and night-vision cameras for detecting in low visibility situations. </a:t>
            </a:r>
            <a:endParaRPr lang="en-US" sz="320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890"/>
              </a:lnSpc>
            </a:pPr>
            <a:r>
              <a:rPr lang="en-US" sz="32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• SMS and email alert system in addition to Telegram notifications</a:t>
            </a:r>
            <a:endParaRPr lang="en-US" sz="320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890"/>
              </a:lnSpc>
            </a:pPr>
            <a:r>
              <a:rPr lang="en-US" sz="320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• Wildlife-specific AI model training for higher accuracy</a:t>
            </a:r>
            <a:endParaRPr lang="en-US" sz="320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125"/>
              </a:lnSpc>
            </a:pPr>
          </a:p>
          <a:p>
            <a:pPr algn="l">
              <a:lnSpc>
                <a:spcPts val="5125"/>
              </a:lnSpc>
            </a:pPr>
          </a:p>
        </p:txBody>
      </p:sp>
      <p:sp>
        <p:nvSpPr>
          <p:cNvPr id="5" name="Freeform 5"/>
          <p:cNvSpPr/>
          <p:nvPr/>
        </p:nvSpPr>
        <p:spPr>
          <a:xfrm rot="-574333">
            <a:off x="-873603" y="5985927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75063" y="711124"/>
            <a:ext cx="12537875" cy="924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70"/>
              </a:lnSpc>
            </a:pPr>
            <a:r>
              <a:rPr lang="en-US" sz="54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ANALYSIS</a:t>
            </a:r>
            <a:endParaRPr lang="en-US" sz="5405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24661" y="2133682"/>
            <a:ext cx="15597173" cy="650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3685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Social Impact:</a:t>
            </a:r>
            <a:endParaRPr lang="en-US" sz="3685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160"/>
              </a:lnSpc>
            </a:pPr>
            <a:r>
              <a:rPr lang="en-US" sz="3685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68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• Reduces human-wildlife conflict</a:t>
            </a:r>
            <a:endParaRPr lang="en-US" sz="368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160"/>
              </a:lnSpc>
            </a:pPr>
            <a:r>
              <a:rPr lang="en-US" sz="368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Improves emergency response time</a:t>
            </a:r>
            <a:endParaRPr lang="en-US" sz="368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160"/>
              </a:lnSpc>
            </a:pPr>
            <a:r>
              <a:rPr lang="en-US" sz="3685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Environmental Impact:</a:t>
            </a:r>
            <a:endParaRPr lang="en-US" sz="3685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160"/>
              </a:lnSpc>
            </a:pPr>
            <a:r>
              <a:rPr lang="en-US" sz="368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Supports wildlife conservation</a:t>
            </a:r>
            <a:endParaRPr lang="en-US" sz="368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160"/>
              </a:lnSpc>
            </a:pPr>
            <a:r>
              <a:rPr lang="en-US" sz="368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Encourages sustainable forest monitoring</a:t>
            </a:r>
            <a:endParaRPr lang="en-US" sz="368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160"/>
              </a:lnSpc>
            </a:pPr>
            <a:r>
              <a:rPr lang="en-US" sz="3685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Economic Impact:</a:t>
            </a:r>
            <a:endParaRPr lang="en-US" sz="3685" b="1">
              <a:solidFill>
                <a:srgbClr val="54545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160"/>
              </a:lnSpc>
            </a:pPr>
            <a:r>
              <a:rPr lang="en-US" sz="368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Prevents crop damage</a:t>
            </a:r>
            <a:endParaRPr lang="en-US" sz="368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160"/>
              </a:lnSpc>
            </a:pPr>
            <a:r>
              <a:rPr lang="en-US" sz="368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 • Reduces financial losses</a:t>
            </a:r>
            <a:endParaRPr lang="en-US" sz="368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5160"/>
              </a:lnSpc>
              <a:spcBef>
                <a:spcPct val="0"/>
              </a:spcBef>
            </a:p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30816" y="497307"/>
            <a:ext cx="11026369" cy="94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RESULT</a:t>
            </a:r>
            <a:endParaRPr lang="en-US" sz="5500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753457"/>
            <a:ext cx="16518966" cy="532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7735" lvl="1" indent="-463550" algn="l">
              <a:lnSpc>
                <a:spcPts val="6015"/>
              </a:lnSpc>
              <a:buFont typeface="Arial" panose="020B0604020202020204"/>
              <a:buChar char="•"/>
            </a:pPr>
            <a:r>
              <a:rPr lang="en-US" sz="42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The system successfully detects wildlife intrusion in real time and sends instant Telegram alerts.</a:t>
            </a:r>
            <a:endParaRPr lang="en-US" sz="42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015"/>
              </a:lnSpc>
            </a:pPr>
          </a:p>
          <a:p>
            <a:pPr marL="927735" lvl="1" indent="-463550" algn="l">
              <a:lnSpc>
                <a:spcPts val="6015"/>
              </a:lnSpc>
              <a:buFont typeface="Arial" panose="020B0604020202020204"/>
              <a:buChar char="•"/>
            </a:pPr>
            <a:r>
              <a:rPr lang="en-US" sz="4295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It reduces manual monitoring dependency and demonstrates scalable architecture suitable for real-world deployment.</a:t>
            </a:r>
            <a:endParaRPr lang="en-US" sz="4295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6015"/>
              </a:lnSpc>
            </a:p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94942" y="914400"/>
            <a:ext cx="12698115" cy="955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70"/>
              </a:lnSpc>
            </a:pPr>
            <a:r>
              <a:rPr lang="en-US" sz="555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  <a:endParaRPr lang="en-US" sz="5550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01085" y="3501451"/>
            <a:ext cx="17485830" cy="4631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</a:pPr>
          </a:p>
          <a:p>
            <a:pPr marL="705485" lvl="1" indent="-353060" algn="l">
              <a:lnSpc>
                <a:spcPts val="4575"/>
              </a:lnSpc>
              <a:buFont typeface="Arial" panose="020B0604020202020204"/>
              <a:buChar char="•"/>
            </a:pP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ildlifeGuard is an AI-driven surveillance system designed to enhance environmental safety through real-time intelligent monitoring and automated alert mechanisms. By combining deep learning-based wildlife detection with instant Telegram notifications, the system enables faster response and reduces dependency on manual surveillance.</a:t>
            </a:r>
            <a:endParaRPr lang="en-US" sz="327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05485" lvl="1" indent="-353060" algn="l">
              <a:lnSpc>
                <a:spcPts val="457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270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rPr>
              <a:t>It offers a practical, scalable, and cost-effective solution to minimize human-wildlife conflict while supporting sustainable forest management and community safety.</a:t>
            </a:r>
            <a:endParaRPr lang="en-US" sz="3270">
              <a:solidFill>
                <a:srgbClr val="545454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575"/>
              </a:lnSpc>
              <a:spcBef>
                <a:spcPct val="0"/>
              </a:spcBef>
            </a:p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5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  <a:endParaRPr lang="en-US" sz="11505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3647</Words>
  <Application>WPS Presentation</Application>
  <PresentationFormat>On-screen Show (4:3)</PresentationFormat>
  <Paragraphs>115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Alexandria Bold</vt:lpstr>
      <vt:lpstr>Open Sans</vt:lpstr>
      <vt:lpstr>Alexandria</vt:lpstr>
      <vt:lpstr>DM Sans</vt:lpstr>
      <vt:lpstr>Open Sauce</vt:lpstr>
      <vt:lpstr>Open Sauce Bold</vt:lpstr>
      <vt:lpstr>Open Sans Bold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>Keshav Joshi</cp:lastModifiedBy>
  <cp:revision>2</cp:revision>
  <dcterms:created xsi:type="dcterms:W3CDTF">2006-08-16T00:00:00Z</dcterms:created>
  <dcterms:modified xsi:type="dcterms:W3CDTF">2026-02-28T14:38:45Z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050B268FCB8F4012B8F1BEF065B38A26_12</vt:lpwstr>
  </property>
  <property fmtid="{D5CDD505-2E9C-101B-9397-08002B2CF9AE}" pid="3" name="KSOProductBuildVer">
    <vt:lpwstr>1033-12.2.0.23196</vt:lpwstr>
  </property>
</Properties>
</file>